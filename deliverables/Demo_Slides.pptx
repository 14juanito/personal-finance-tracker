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Introduce yourself and the project: a Python personal finance tracker built for DATA 333. It has three interfaces — console, desktop and web dashboard — on top of one shared core.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goal and the scope: all course requirements plus the four enhancements (Tkinter GUI, JSON and CSV storage, budget alerts, Streamlit dashboard).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six feature groups. Point at the GUI screenshot: KPIs at the top, the monthly table, and alerts in red (exceeded) and orange (warning).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layers from top to bottom and why separating the UI from the logic made adding the GUI and dashboard easy.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 requirement from the brief is labelled in the code. Open one file, for example storage.py, to show a concept comment next to the try/except that recovers a corrupted JSON file.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Pick one challenge to tell as a story — the dollar-sign bug is the most visual: it was only found by looking at the real rendered chart, not by the unit tests.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Share the main takeaways; connect each one to a concrete moment in the project.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Summarise, show the four commands, and invite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548640" y="1097280"/>
            <a:ext cx="822960" cy="822960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2300" b="1">
                <a:solidFill>
                  <a:srgbClr val="1B4332"/>
                </a:solidFill>
                <a:latin typeface="Calibri"/>
              </a:rPr>
              <a:t>$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2103120"/>
            <a:ext cx="57607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Cambria"/>
              </a:rPr>
              <a:t>Personal Finance Tracker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361188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0" i="0">
                <a:solidFill>
                  <a:srgbClr val="95D5B2"/>
                </a:solidFill>
                <a:latin typeface="Calibri"/>
              </a:rPr>
              <a:t>Track, analyse and visualise personal finances with Python, pandas, Tkinter and Streamlit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937760"/>
            <a:ext cx="54864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DATA 333 – Data Management &amp; Analysis · Bellevue College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Student Name: ______________________ · September 30, 2026</a:t>
            </a:r>
          </a:p>
        </p:txBody>
      </p:sp>
      <p:pic>
        <p:nvPicPr>
          <p:cNvPr id="6" name="Picture 5" descr="dashboard_overvi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3680" y="1490662"/>
            <a:ext cx="5074920" cy="387667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63040"/>
            <a:ext cx="5852160" cy="4389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The problem. </a:t>
            </a:r>
            <a:r>
              <a:rPr sz="1700" b="0">
                <a:solidFill>
                  <a:srgbClr val="212B26"/>
                </a:solidFill>
                <a:latin typeface="Calibri"/>
              </a:rPr>
              <a:t>Students rarely know where their money goes each month.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The solution. </a:t>
            </a:r>
            <a:r>
              <a:rPr sz="1700" b="0">
                <a:solidFill>
                  <a:srgbClr val="212B26"/>
                </a:solidFill>
                <a:latin typeface="Calibri"/>
              </a:rPr>
              <a:t>Record income and expenses, categorise them, and turn them into summaries, trends, budget alerts and savings-goal progress.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Three ways in. </a:t>
            </a:r>
            <a:r>
              <a:rPr sz="1700" b="0">
                <a:solidFill>
                  <a:srgbClr val="212B26"/>
                </a:solidFill>
                <a:latin typeface="Calibri"/>
              </a:rPr>
              <a:t>A console menu, a Tkinter desktop app and a Streamlit dashboard — plus a demo mode that runs everything non-interactively.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212B26"/>
                </a:solidFill>
                <a:latin typeface="Calibri"/>
              </a:rPr>
              <a:t>Realistic data. </a:t>
            </a:r>
            <a:r>
              <a:rPr sz="1700" b="0">
                <a:solidFill>
                  <a:srgbClr val="212B26"/>
                </a:solidFill>
                <a:latin typeface="Calibri"/>
              </a:rPr>
              <a:t>A seeded generator creates 311 fictional transactions over six months, so every run and screenshot is reproducible.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949440" y="15544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874519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311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86600" y="27889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sample transactions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9418320" y="155448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1874519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3 + 1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555480" y="278892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interfaces + demo mode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0" y="379476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0" y="411480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173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86600" y="50292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automated tests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418320" y="3794760"/>
            <a:ext cx="2240280" cy="19659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0" y="4114800"/>
            <a:ext cx="2240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4000" b="1" i="0">
                <a:solidFill>
                  <a:srgbClr val="2D6A4F"/>
                </a:solidFill>
                <a:latin typeface="Cambria"/>
              </a:rPr>
              <a:t>98 %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55480" y="5029200"/>
            <a:ext cx="1965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test coverage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Key features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0876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70992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+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169163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Transactions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205740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Add, edit, delete, search and filter — with validated input.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794759" y="150876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3977639" y="170992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709159" y="1691639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Analysis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09159" y="205740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Monthly summary, category shares, rolling trend, top expenses.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15468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731520" y="335584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63040" y="3337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Budget alerts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370332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Warning at 80 %, exceeded at 100 % — shown instantly.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794759" y="315468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977639" y="335584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09159" y="333756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Savings goals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09159" y="370332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Targets, deadlines, contributions and 25/50/75/100 % milestones.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480060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731520" y="500176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63040" y="49834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JSON + CSV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534924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Atomic saves, CSV import/export, corrupted-file recovery.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794759" y="4800600"/>
            <a:ext cx="3063240" cy="14630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3977639" y="5001768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▦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59" y="4983480"/>
            <a:ext cx="20116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Charts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9159" y="5349240"/>
            <a:ext cx="201168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matplotlib PNGs in the GUI; interactive Plotly on the web.</a:t>
            </a:r>
          </a:p>
        </p:txBody>
      </p:sp>
      <p:pic>
        <p:nvPicPr>
          <p:cNvPr id="27" name="Picture 26" descr="gui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0" y="1512212"/>
            <a:ext cx="4434840" cy="3010614"/>
          </a:xfrm>
          <a:prstGeom prst="rect">
            <a:avLst/>
          </a:prstGeom>
          <a:ln w="12700">
            <a:solidFill>
              <a:srgbClr val="C8D6CE"/>
            </a:solidFill>
          </a:ln>
        </p:spPr>
      </p:pic>
      <p:sp>
        <p:nvSpPr>
          <p:cNvPr id="28" name="TextBox 27"/>
          <p:cNvSpPr txBox="1"/>
          <p:nvPr/>
        </p:nvSpPr>
        <p:spPr>
          <a:xfrm>
            <a:off x="7223760" y="4663440"/>
            <a:ext cx="4434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C6B63"/>
                </a:solidFill>
                <a:latin typeface="Calibri"/>
              </a:rPr>
              <a:t>Tkinter GUI — Summary tab with colour-coded alerts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Architecture: one core, three interfaces</a:t>
            </a:r>
          </a:p>
        </p:txBody>
      </p:sp>
      <p:pic>
        <p:nvPicPr>
          <p:cNvPr id="3" name="Picture 2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717637"/>
            <a:ext cx="6766560" cy="424568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7680960" y="1645920"/>
            <a:ext cx="3931920" cy="457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Layers. </a:t>
            </a:r>
            <a:r>
              <a:rPr sz="1500" b="0">
                <a:solidFill>
                  <a:srgbClr val="212B26"/>
                </a:solidFill>
                <a:latin typeface="Calibri"/>
              </a:rPr>
              <a:t>Interfaces call the application logic, which relies on validated models and a single storage module.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Reuse. </a:t>
            </a:r>
            <a:r>
              <a:rPr sz="1500" b="0">
                <a:solidFill>
                  <a:srgbClr val="212B26"/>
                </a:solidFill>
                <a:latin typeface="Calibri"/>
              </a:rPr>
              <a:t>The same analytics and chart functions feed the CLI, GUI, dashboard and demo.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Testable. </a:t>
            </a:r>
            <a:r>
              <a:rPr sz="1500" b="0">
                <a:solidFill>
                  <a:srgbClr val="212B26"/>
                </a:solidFill>
                <a:latin typeface="Calibri"/>
              </a:rPr>
              <a:t>Business rules live outside the UI, so they are unit tested without a screen.</a:t>
            </a:r>
          </a:p>
          <a:p>
            <a:pPr>
              <a:spcAft>
                <a:spcPts val="1400"/>
              </a:spcAft>
            </a:pPr>
            <a:r>
              <a:rPr sz="1500" b="1">
                <a:solidFill>
                  <a:srgbClr val="212B26"/>
                </a:solidFill>
                <a:latin typeface="Calibri"/>
              </a:rPr>
              <a:t>Portable. </a:t>
            </a:r>
            <a:r>
              <a:rPr sz="1500" b="0">
                <a:solidFill>
                  <a:srgbClr val="212B26"/>
                </a:solidFill>
                <a:latin typeface="Calibri"/>
              </a:rPr>
              <a:t>All paths come from pathlib in config.py — nothing hard-coded.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Course concepts in the code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Input / output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cli.py — prompts, aligned tables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97679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26279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Decisions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26279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alerts.budget_level — if / elif / else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46719" y="146304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75319" y="16002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75319" y="196596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re-prompt until a valid amount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Functions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parse_amount, analytics.*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79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26279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Files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26279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storage.py — json, csv, pathlib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046719" y="265176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75319" y="278892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Exceptions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75319" y="315468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custom classes, corrupted-file recovery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Lists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FinanceTracker.transactions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79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26279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Dictionaries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26279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budgets, goals, menu dispatch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046719" y="384048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75319" y="39776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Sets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75319" y="434340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unique categories, missing CSV columns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48640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77240" y="5166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OOP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7240" y="5532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dataclasses + FinanceTracker class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297679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26279" y="516636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1" i="0">
                <a:solidFill>
                  <a:srgbClr val="1B4332"/>
                </a:solidFill>
                <a:latin typeface="Calibri"/>
              </a:rPr>
              <a:t>pandas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79" y="5532120"/>
            <a:ext cx="3200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0" i="0">
                <a:solidFill>
                  <a:srgbClr val="5C6B63"/>
                </a:solidFill>
                <a:latin typeface="Calibri"/>
              </a:rPr>
              <a:t>pivot_table, groupby, rolling, pct_change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046719" y="5029200"/>
            <a:ext cx="3566160" cy="100584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75319" y="5166360"/>
            <a:ext cx="3154680" cy="7772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Calibri"/>
              </a:rPr>
              <a:t>Each one is tagged with a  # Concept:  comment in the source.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Challenges and solutions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566160" y="1417320"/>
            <a:ext cx="39319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B23A48"/>
                </a:solidFill>
                <a:latin typeface="Calibri"/>
              </a:rPr>
              <a:t>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818120" y="1417320"/>
            <a:ext cx="38404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200" b="1" i="0">
                <a:solidFill>
                  <a:srgbClr val="2D6A4F"/>
                </a:solidFill>
                <a:latin typeface="Calibri"/>
              </a:rPr>
              <a:t>SOLUTION</a:t>
            </a:r>
          </a:p>
        </p:txBody>
      </p:sp>
      <p:sp>
        <p:nvSpPr>
          <p:cNvPr id="5" name="Oval 4"/>
          <p:cNvSpPr/>
          <p:nvPr/>
        </p:nvSpPr>
        <p:spPr>
          <a:xfrm>
            <a:off x="548640" y="2148840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201168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Money text turned into math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29000" y="182880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11880" y="196596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"$1,850 / $3,000" rendered as LaTeX in matplotlib and Streamlit.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680960" y="182880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0" y="196596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Escape the dollar signs; regression tests.</a:t>
            </a:r>
          </a:p>
        </p:txBody>
      </p:sp>
      <p:sp>
        <p:nvSpPr>
          <p:cNvPr id="11" name="Oval 10"/>
          <p:cNvSpPr/>
          <p:nvPr/>
        </p:nvSpPr>
        <p:spPr>
          <a:xfrm>
            <a:off x="548640" y="3657600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52044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Exception caught by the wrong handler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29000" y="333756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11880" y="347472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Our StorageError is an OSError, so a generic handler re-wrapped it.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680960" y="333756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863840" y="347472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Re-raise it first — handlers match in order.</a:t>
            </a:r>
          </a:p>
        </p:txBody>
      </p:sp>
      <p:sp>
        <p:nvSpPr>
          <p:cNvPr id="17" name="Oval 16"/>
          <p:cNvSpPr/>
          <p:nvPr/>
        </p:nvSpPr>
        <p:spPr>
          <a:xfrm>
            <a:off x="548640" y="5166359"/>
            <a:ext cx="502920" cy="502920"/>
          </a:xfrm>
          <a:prstGeom prst="ellipse">
            <a:avLst/>
          </a:prstGeom>
          <a:solidFill>
            <a:srgbClr val="1B43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029200"/>
            <a:ext cx="1965960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4332"/>
                </a:solidFill>
                <a:latin typeface="Calibri"/>
              </a:rPr>
              <a:t>Unreadable GUI on a HiDPI screen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429000" y="4846320"/>
            <a:ext cx="4114800" cy="1280160"/>
          </a:xfrm>
          <a:prstGeom prst="roundRect">
            <a:avLst>
              <a:gd name="adj" fmla="val 8000"/>
            </a:avLst>
          </a:prstGeom>
          <a:solidFill>
            <a:srgbClr val="FB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611880" y="4983480"/>
            <a:ext cx="3749039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Tk scaled fonts but not row heights; chart text was tiny.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680960" y="4846320"/>
            <a:ext cx="3959352" cy="1280160"/>
          </a:xfrm>
          <a:prstGeom prst="roundRect">
            <a:avLst>
              <a:gd name="adj" fmla="val 8000"/>
            </a:avLst>
          </a:prstGeom>
          <a:solidFill>
            <a:srgbClr val="EE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863840" y="4983480"/>
            <a:ext cx="3611880" cy="1005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212B26"/>
                </a:solidFill>
                <a:latin typeface="Calibri"/>
              </a:rPr>
              <a:t>Scale factor from the real font height; chart dpi.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94415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3600" b="1" i="0">
                <a:solidFill>
                  <a:srgbClr val="1B4332"/>
                </a:solidFill>
                <a:latin typeface="Cambria"/>
              </a:rPr>
              <a:t>What I learned</a:t>
            </a:r>
          </a:p>
        </p:txBody>
      </p:sp>
      <p:sp>
        <p:nvSpPr>
          <p:cNvPr id="3" name="Oval 2"/>
          <p:cNvSpPr/>
          <p:nvPr/>
        </p:nvSpPr>
        <p:spPr>
          <a:xfrm>
            <a:off x="548640" y="1508760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371600" y="146304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Validate once, at the boundary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87452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__post_init__ checks every value, so the rest of the code can trust its data.</a:t>
            </a:r>
          </a:p>
        </p:txBody>
      </p:sp>
      <p:sp>
        <p:nvSpPr>
          <p:cNvPr id="6" name="Oval 5"/>
          <p:cNvSpPr/>
          <p:nvPr/>
        </p:nvSpPr>
        <p:spPr>
          <a:xfrm>
            <a:off x="548640" y="2743200"/>
            <a:ext cx="566928" cy="566928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{}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9748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Pick the right data structure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310896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List for order, dictionary for lookup by name, set for uniqueness.</a:t>
            </a:r>
          </a:p>
        </p:txBody>
      </p:sp>
      <p:sp>
        <p:nvSpPr>
          <p:cNvPr id="9" name="Oval 8"/>
          <p:cNvSpPr/>
          <p:nvPr/>
        </p:nvSpPr>
        <p:spPr>
          <a:xfrm>
            <a:off x="548640" y="3977640"/>
            <a:ext cx="566928" cy="566928"/>
          </a:xfrm>
          <a:prstGeom prst="ellipse">
            <a:avLst/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Calibri"/>
              </a:rPr>
              <a:t>▤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93192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pandas replaces loops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434340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One groupby or pivot_table does what dozens of lines used to — but handle empty data.</a:t>
            </a:r>
          </a:p>
        </p:txBody>
      </p:sp>
      <p:sp>
        <p:nvSpPr>
          <p:cNvPr id="12" name="Oval 11"/>
          <p:cNvSpPr/>
          <p:nvPr/>
        </p:nvSpPr>
        <p:spPr>
          <a:xfrm>
            <a:off x="548640" y="5212080"/>
            <a:ext cx="566928" cy="566928"/>
          </a:xfrm>
          <a:prstGeom prst="ellipse">
            <a:avLst/>
          </a:prstGeom>
          <a:solidFill>
            <a:srgbClr val="E9C46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1B4332"/>
                </a:solidFill>
                <a:latin typeface="Calibri"/>
              </a:rPr>
              <a:t>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1663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700" b="1" i="0">
                <a:solidFill>
                  <a:srgbClr val="1B4332"/>
                </a:solidFill>
                <a:latin typeface="Calibri"/>
              </a:rPr>
              <a:t>Look at the real output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5577840"/>
            <a:ext cx="51206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 i="0">
                <a:solidFill>
                  <a:srgbClr val="5C6B63"/>
                </a:solidFill>
                <a:latin typeface="Calibri"/>
              </a:rPr>
              <a:t>Screenshots found bugs that the passing unit tests did not.</a:t>
            </a:r>
          </a:p>
        </p:txBody>
      </p:sp>
      <p:pic>
        <p:nvPicPr>
          <p:cNvPr id="15" name="Picture 14" descr="cli_summa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0" y="1579626"/>
            <a:ext cx="4800600" cy="3607308"/>
          </a:xfrm>
          <a:prstGeom prst="rect">
            <a:avLst/>
          </a:prstGeom>
          <a:ln w="12700">
            <a:solidFill>
              <a:srgbClr val="C8D6CE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6858000" y="5440680"/>
            <a:ext cx="4800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0" i="1">
                <a:solidFill>
                  <a:srgbClr val="5C6B63"/>
                </a:solidFill>
                <a:latin typeface="Calibri"/>
              </a:rPr>
              <a:t>CLI mode — monthly summary with category shares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433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54864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566928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Complete. </a:t>
            </a:r>
            <a:r>
              <a:rPr sz="1700" b="0">
                <a:solidFill>
                  <a:srgbClr val="FFFFFF"/>
                </a:solidFill>
                <a:latin typeface="Calibri"/>
              </a:rPr>
              <a:t>Every course requirement and all four enhancements are implemented.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Reliable. </a:t>
            </a:r>
            <a:r>
              <a:rPr sz="1700" b="0">
                <a:solidFill>
                  <a:srgbClr val="FFFFFF"/>
                </a:solidFill>
                <a:latin typeface="Calibri"/>
              </a:rPr>
              <a:t>173 tests, 98 % coverage, ruff-clean code, graceful error handling.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Reusable. </a:t>
            </a:r>
            <a:r>
              <a:rPr sz="1700" b="0">
                <a:solidFill>
                  <a:srgbClr val="FFFFFF"/>
                </a:solidFill>
                <a:latin typeface="Calibri"/>
              </a:rPr>
              <a:t>One tested core powers the console, desktop and web interfaces.</a:t>
            </a:r>
          </a:p>
          <a:p>
            <a:pPr>
              <a:spcAft>
                <a:spcPts val="16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Next. </a:t>
            </a:r>
            <a:r>
              <a:rPr sz="1700" b="0">
                <a:solidFill>
                  <a:srgbClr val="FFFFFF"/>
                </a:solidFill>
                <a:latin typeface="Calibri"/>
              </a:rPr>
              <a:t>Recurring transactions, bank-statement import, spending forecasts.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0" y="1645920"/>
            <a:ext cx="4965192" cy="3291840"/>
          </a:xfrm>
          <a:prstGeom prst="roundRect">
            <a:avLst>
              <a:gd name="adj" fmla="val 8000"/>
            </a:avLst>
          </a:prstGeom>
          <a:solidFill>
            <a:srgbClr val="2D6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949440" y="1828800"/>
            <a:ext cx="4572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800" b="1" i="0">
                <a:solidFill>
                  <a:srgbClr val="E9C46A"/>
                </a:solidFill>
                <a:latin typeface="Calibri"/>
              </a:rPr>
              <a:t>Try 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949440" y="2331720"/>
            <a:ext cx="4572000" cy="24688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demo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cli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python main.py gui</a:t>
            </a:r>
          </a:p>
          <a:p>
            <a:pPr algn="l">
              <a:spcAft>
                <a:spcPts val="1200"/>
              </a:spcAft>
            </a:pPr>
            <a:r>
              <a:rPr sz="1300" b="0" i="0">
                <a:solidFill>
                  <a:srgbClr val="FFFFFF"/>
                </a:solidFill>
                <a:latin typeface="Courier New"/>
              </a:rPr>
              <a:t>streamlit run finance_tracker/dashboard.py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5760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 i="0">
                <a:solidFill>
                  <a:srgbClr val="95D5B2"/>
                </a:solidFill>
                <a:latin typeface="Cambria"/>
              </a:rPr>
              <a:t>Thank you — 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